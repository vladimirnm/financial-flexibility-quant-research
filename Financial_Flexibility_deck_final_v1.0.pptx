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-536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(Model + results) Author manuscript PDF provided in repository.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Graham (2022), *Corporate Finance and Reality* (AFA presidential address / NBER working paper): https://www.nber.org/papers/w29841
- S&amp;P Global Ratings (2024), *Annual Global Corporate Default and Rating Transition Study* (S&amp;P): https://maalot.co.il/Publications/FTS20250331162126.pdf
- Asquith, Beatty &amp; Weber (2005), performance pricing in bank debt: https://www.sciencedirect.com/science/article/abs/pii/S0165410105000583
- Chava &amp; Roberts (2008), covenant violations and investment: https://finance.wharton.upenn.edu/~mrrobert/resources/Publications/CovenantInvestmentJF2008.pdf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(Model contribution + schematic) Author manuscript PDF provided in repository.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(Model setup) Author manuscript PDF provided in repository.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(Closed-form expressions) Author manuscript PDF provided in repository.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(Optimal policy + statics) Author manuscript PDF provided in repository.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(Option interpretation) Author manuscript PDF provided in repository.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(Baseline parameters + outputs) Supplementary Appendix, Tables 4–5 in author PDF.
- Anchoring s with rating-yield differences: FRED (e.g., Moody’s Aaa yield series AAA): https://fred.stlouisfed.org/series/AAA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(Scenario numbers) Supplementary Appendix Table 6 in author PDF.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(All results) Author manuscript PDF + Supplementary Appendix in repository.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yourhandle" TargetMode="External"/><Relationship Id="rId2" Type="http://schemas.openxmlformats.org/officeDocument/2006/relationships/hyperlink" Target="mailto:yourname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yourhandle/your-rep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1072865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Financial Flexibility Is Optimal?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Closed-Form Capital Structure Model for Investment-Grade Firms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246120"/>
            <a:ext cx="102714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Vladimir Manaev, CQF, PRM | Quant Research | Barcelona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29691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0F172A"/>
                </a:solidFill>
                <a:latin typeface="Calibri"/>
              </a:rPr>
              <a:t>How much financial flexibility is optimal?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874519"/>
            <a:ext cx="10058400" cy="914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r>
              <a:rPr b="1">
                <a:solidFill>
                  <a:srgbClr val="0F172A"/>
                </a:solidFill>
              </a:rPr>
              <a:t>Flexibility dominates leverage targets</a:t>
            </a:r>
          </a:p>
          <a:p>
            <a:r>
              <a:rPr b="0">
                <a:solidFill>
                  <a:srgbClr val="374151"/>
                </a:solidFill>
              </a:rPr>
              <a:t>CFOs prioritize financial flexibility and rating resilience when setting </a:t>
            </a:r>
            <a:r>
              <a:rPr lang="en-US" dirty="0" smtClean="0">
                <a:solidFill>
                  <a:srgbClr val="374151"/>
                </a:solidFill>
              </a:rPr>
              <a:t>financing</a:t>
            </a:r>
            <a:r>
              <a:rPr b="0" smtClean="0">
                <a:solidFill>
                  <a:srgbClr val="374151"/>
                </a:solidFill>
              </a:rPr>
              <a:t> policy </a:t>
            </a:r>
            <a:r>
              <a:rPr b="0">
                <a:solidFill>
                  <a:srgbClr val="374151"/>
                </a:solidFill>
              </a:rPr>
              <a:t>[Graham 2022</a:t>
            </a:r>
            <a:r>
              <a:rPr b="0" smtClean="0">
                <a:solidFill>
                  <a:srgbClr val="374151"/>
                </a:solidFill>
              </a:rPr>
              <a:t>]</a:t>
            </a:r>
            <a:r>
              <a:rPr lang="en-US" b="0" dirty="0" smtClean="0">
                <a:solidFill>
                  <a:srgbClr val="374151"/>
                </a:solidFill>
              </a:rPr>
              <a:t>.</a:t>
            </a:r>
            <a:endParaRPr b="0">
              <a:solidFill>
                <a:srgbClr val="37415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51560" y="3063240"/>
            <a:ext cx="10058400" cy="914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r>
              <a:rPr b="1">
                <a:solidFill>
                  <a:srgbClr val="0F172A"/>
                </a:solidFill>
              </a:rPr>
              <a:t>Investment-grade defaults are genuinely rare</a:t>
            </a:r>
          </a:p>
          <a:p>
            <a:r>
              <a:rPr b="0">
                <a:solidFill>
                  <a:srgbClr val="374151"/>
                </a:solidFill>
              </a:rPr>
              <a:t>Only ~0.5% of historical defaults started as investment grade; in 2024, just two issuers were IG one year before </a:t>
            </a:r>
            <a:r>
              <a:rPr b="0" smtClean="0">
                <a:solidFill>
                  <a:srgbClr val="374151"/>
                </a:solidFill>
              </a:rPr>
              <a:t>default </a:t>
            </a:r>
            <a:r>
              <a:rPr b="0">
                <a:solidFill>
                  <a:srgbClr val="374151"/>
                </a:solidFill>
              </a:rPr>
              <a:t>[S&amp;P Global Ratings 2025</a:t>
            </a:r>
            <a:r>
              <a:rPr b="0" smtClean="0">
                <a:solidFill>
                  <a:srgbClr val="374151"/>
                </a:solidFill>
              </a:rPr>
              <a:t>]</a:t>
            </a:r>
            <a:r>
              <a:rPr lang="en-US" b="0" dirty="0" smtClean="0">
                <a:solidFill>
                  <a:srgbClr val="374151"/>
                </a:solidFill>
              </a:rPr>
              <a:t>.</a:t>
            </a:r>
            <a:endParaRPr b="0">
              <a:solidFill>
                <a:srgbClr val="37415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51560" y="4251960"/>
            <a:ext cx="10058400" cy="914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r>
              <a:rPr b="1">
                <a:solidFill>
                  <a:srgbClr val="0F172A"/>
                </a:solidFill>
              </a:rPr>
              <a:t>Constraints bite before “default”</a:t>
            </a:r>
          </a:p>
          <a:p>
            <a:r>
              <a:rPr b="0">
                <a:solidFill>
                  <a:srgbClr val="374151"/>
                </a:solidFill>
              </a:rPr>
              <a:t>For IG firms, pricing grids and covenant triggers reprice debt and shift control rights long before </a:t>
            </a:r>
            <a:r>
              <a:rPr lang="en-US" dirty="0" smtClean="0">
                <a:solidFill>
                  <a:srgbClr val="374151"/>
                </a:solidFill>
              </a:rPr>
              <a:t>default</a:t>
            </a:r>
            <a:r>
              <a:rPr b="0" smtClean="0">
                <a:solidFill>
                  <a:srgbClr val="374151"/>
                </a:solidFill>
              </a:rPr>
              <a:t> </a:t>
            </a:r>
            <a:r>
              <a:rPr b="0">
                <a:solidFill>
                  <a:srgbClr val="374151"/>
                </a:solidFill>
              </a:rPr>
              <a:t>is </a:t>
            </a:r>
            <a:r>
              <a:rPr b="0" smtClean="0">
                <a:solidFill>
                  <a:srgbClr val="374151"/>
                </a:solidFill>
              </a:rPr>
              <a:t>relevant </a:t>
            </a:r>
            <a:r>
              <a:rPr b="0">
                <a:solidFill>
                  <a:srgbClr val="374151"/>
                </a:solidFill>
              </a:rPr>
              <a:t>[Asquith, Beatty &amp; Weber 2005; Roberts &amp; Sufi 2009</a:t>
            </a:r>
            <a:r>
              <a:rPr b="0" smtClean="0">
                <a:solidFill>
                  <a:srgbClr val="374151"/>
                </a:solidFill>
              </a:rPr>
              <a:t>]</a:t>
            </a:r>
            <a:r>
              <a:rPr lang="en-US" b="0" dirty="0" smtClean="0">
                <a:solidFill>
                  <a:srgbClr val="374151"/>
                </a:solidFill>
              </a:rPr>
              <a:t>.</a:t>
            </a:r>
            <a:endParaRPr b="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20930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Model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17320"/>
          <a:ext cx="6400799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5262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Firm value follows GBM under Q:  dV/V = r dt + σ dW.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Choose trigger Vg (contractual headroom / flexibility buffer).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Debt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Perpetual coupon C; reprices to C(1+s) when V ≤ Vg; reverts on recovery.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Taxes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Corporate tax rate τ; tax shield on coupon payments.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Ex‑ante cost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Up‑front cost of weaker trigger protection:  k / Vg.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endParaRPr/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/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Maximize equity value; closed-form interior solution for Vg*.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 flipV="1">
            <a:off x="7635240" y="1691640"/>
            <a:ext cx="0" cy="4617720"/>
          </a:xfrm>
          <a:prstGeom prst="line">
            <a:avLst/>
          </a:prstGeom>
          <a:ln w="254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7562088" y="1618488"/>
            <a:ext cx="146304" cy="146304"/>
          </a:xfrm>
          <a:prstGeom prst="triangl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635240" y="4297680"/>
            <a:ext cx="3977639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0" y="1508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4023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3774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  <a:latin typeface="Calibri"/>
              </a:rPr>
              <a:t>Above Vg: coupon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572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  <a:latin typeface="Calibri"/>
              </a:rPr>
              <a:t>Below Vg: coupon C·(1+s)  (step-up)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9" y="4069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Calibri"/>
              </a:rPr>
              <a:t>repricing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7735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rPr sz="2800"/>
              <a:t>Baseline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Output: baseline Vg*/V ≈ 0.86 (≈14% headroom); implied leverage ≈ 35%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463040"/>
                <a:gridCol w="5852160"/>
              </a:tblGrid>
              <a:tr h="5384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Model parameter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Baseline value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Meaning (plain English)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Risk‑free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Discount rate under risk‑neutral pricing.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Asset volatility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σ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Diffusion (market) risk of firm value.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Corporate tax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τ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21%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Tax shield on interest payments.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Coupon rate (base)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Base debt service while V &gt; Vg.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Step‑up severity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0.12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Coupon multiplier below trigger: C·(1+s).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Ex‑ante flexibility cost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Up‑front cost of buying headroom: k / Vg.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EBITDA ratio (mapping)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α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300" b="0">
                          <a:solidFill>
                            <a:srgbClr val="0F172A"/>
                          </a:solidFill>
                        </a:rPr>
                        <a:t>EBITDA ≈ α·V (translation layer only).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Debt/EBITDA ratio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4×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Most common covenant trigger.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5370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rPr sz="2800"/>
              <a:t>Closed-form optimal headroom rule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972800" cy="1691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vg_formula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792" y="1459345"/>
            <a:ext cx="11400632" cy="12838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9946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Optimal headroom (closed form)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• V : firm asset value (state variable)</a:t>
            </a:r>
          </a:p>
          <a:p>
            <a:r>
              <a:rPr sz="1600">
                <a:solidFill>
                  <a:srgbClr val="0F172A"/>
                </a:solidFill>
              </a:rPr>
              <a:t>• Vg* : optimal trigger threshold</a:t>
            </a:r>
          </a:p>
          <a:p>
            <a:r>
              <a:rPr sz="1600">
                <a:solidFill>
                  <a:srgbClr val="0F172A"/>
                </a:solidFill>
              </a:rPr>
              <a:t>• C : coupon before trigger</a:t>
            </a:r>
          </a:p>
          <a:p>
            <a:r>
              <a:rPr sz="1600">
                <a:solidFill>
                  <a:srgbClr val="0F172A"/>
                </a:solidFill>
              </a:rPr>
              <a:t>• s : step‑up severity (coupon ×(1+s))</a:t>
            </a:r>
          </a:p>
          <a:p>
            <a:r>
              <a:rPr sz="1600">
                <a:solidFill>
                  <a:srgbClr val="0F172A"/>
                </a:solidFill>
              </a:rPr>
              <a:t>• τ : corporate tax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46120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• k : ex‑ante concession parameter (cost of looser trigger)</a:t>
            </a:r>
          </a:p>
          <a:p>
            <a:r>
              <a:rPr sz="1600">
                <a:solidFill>
                  <a:srgbClr val="0F172A"/>
                </a:solidFill>
              </a:rPr>
              <a:t>• r : risk‑free rate</a:t>
            </a:r>
          </a:p>
          <a:p>
            <a:r>
              <a:rPr sz="1600">
                <a:solidFill>
                  <a:srgbClr val="0F172A"/>
                </a:solidFill>
              </a:rPr>
              <a:t>• σ : asset volatility</a:t>
            </a:r>
          </a:p>
          <a:p>
            <a:r>
              <a:rPr sz="1600">
                <a:solidFill>
                  <a:srgbClr val="0F172A"/>
                </a:solidFill>
              </a:rPr>
              <a:t>• x = 2r/σ² : trigger‑hitting sensitivity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730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rPr sz="2800"/>
              <a:t>Comparative Statics: directional impact on optimal headroom (Vg*/V)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1732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2011680"/>
                <a:gridCol w="4937760"/>
              </a:tblGrid>
              <a:tr h="96926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Optimal Vg*/V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Intuition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Repricing severity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More expensive step‑up ⇒ stay further from trigger (more headroom).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Tax rate 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Tax shield more valuable ⇒ tighter trigger and higher implied leverage.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Coupon level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Higher debt service makes repricing region costlier ⇒ more headroom.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Ex‑ante cost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Costlier to buy slack (k/Vg) ⇒ tighter headroom.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339840"/>
            <a:ext cx="109728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151"/>
                </a:solidFill>
              </a:rPr>
              <a:t>Also depends on r and σ² via  x = 2r/σ²; the net effect can be non‑monotone (↕).  For partial derivatives and details, see Appendix 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5278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Calibri"/>
              </a:rPr>
              <a:t>Selected </a:t>
            </a:r>
            <a:r>
              <a:rPr sz="2800" b="1" smtClean="0">
                <a:solidFill>
                  <a:srgbClr val="000000"/>
                </a:solidFill>
                <a:latin typeface="Calibri"/>
              </a:rPr>
              <a:t>results</a:t>
            </a:r>
            <a:endParaRPr sz="28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152136"/>
            <a:ext cx="486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rPr sz="1100" b="0">
                <a:solidFill>
                  <a:srgbClr val="000000"/>
                </a:solidFill>
              </a:rPr>
              <a:t>Higher repricing severity (s↑) lowers implied leverage: optimal headroom rises (Vg*/V↓).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7480" y="5152136"/>
            <a:ext cx="486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rPr sz="1100" b="0">
                <a:solidFill>
                  <a:srgbClr val="000000"/>
                </a:solidFill>
              </a:rPr>
              <a:t>Holding optimal headroom fixed, implied leverage scales linearly with the covenant multiple (K).</a:t>
            </a:r>
          </a:p>
        </p:txBody>
      </p:sp>
      <p:pic>
        <p:nvPicPr>
          <p:cNvPr id="9" name="Picture 8" descr="chart_lev_v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410200" cy="3606800"/>
          </a:xfrm>
          <a:prstGeom prst="rect">
            <a:avLst/>
          </a:prstGeom>
        </p:spPr>
      </p:pic>
      <p:pic>
        <p:nvPicPr>
          <p:cNvPr id="10" name="Picture 9" descr="chart_lev_vs_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60" y="1188720"/>
            <a:ext cx="5410200" cy="360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4850384"/>
            <a:ext cx="545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rPr sz="1000" b="0">
                <a:solidFill>
                  <a:srgbClr val="000000"/>
                </a:solidFill>
              </a:rPr>
              <a:t>Figure 1. Implied leverage vs repricing severity (s) — BBB 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4850384"/>
            <a:ext cx="545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rPr sz="1000" b="0">
                <a:solidFill>
                  <a:srgbClr val="000000"/>
                </a:solidFill>
              </a:rPr>
              <a:t>Figure 2. Implied leverage vs covenant multiple (K) — BBB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0353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Main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25880"/>
            <a:ext cx="1097280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1) Policy object: optimal headroom (trigger ratio)
Headroom is chosen directly as the trigger ratio Vg*/V (or buffer 1 − Vg*/V), which is economically interpretable and easy to communicate.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999232"/>
            <a:ext cx="1097280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2) Endogenous debt capacity (leverage is an output)
Debt is priced at break-even given the policy. The model maps the headroom choice into implied debt capacity via Dcap = α·K·Vg* (and implied leverage D/V).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672584"/>
            <a:ext cx="1097280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3) Transparent drivers and decomposition
Two channels are separated: (i) contract frictions (e.g., repricing severity s and flexibility cost k) shift optimal headroom, and (ii) the Debt/EBITDA mapping (</a:t>
            </a:r>
            <a:r>
              <a:rPr sz="1400" b="0" smtClean="0">
                <a:solidFill>
                  <a:srgbClr val="000000"/>
                </a:solidFill>
              </a:rPr>
              <a:t>α</a:t>
            </a:r>
            <a:r>
              <a:rPr lang="en-US" sz="1400" dirty="0" smtClean="0">
                <a:solidFill>
                  <a:srgbClr val="000000"/>
                </a:solidFill>
              </a:rPr>
              <a:t>) and covenant choice (K)</a:t>
            </a:r>
            <a:r>
              <a:rPr sz="1400" b="0" smtClean="0">
                <a:solidFill>
                  <a:srgbClr val="000000"/>
                </a:solidFill>
              </a:rPr>
              <a:t> </a:t>
            </a:r>
            <a:r>
              <a:rPr sz="1400" b="0">
                <a:solidFill>
                  <a:srgbClr val="000000"/>
                </a:solidFill>
              </a:rPr>
              <a:t>scales debt capacity mechanically.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2526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Sensitivity </a:t>
            </a:r>
            <a:r>
              <a:rPr sz="2800" b="1" smtClean="0">
                <a:solidFill>
                  <a:srgbClr val="000000"/>
                </a:solidFill>
                <a:latin typeface="Calibri"/>
              </a:rPr>
              <a:t>highlights</a:t>
            </a:r>
            <a:endParaRPr sz="2800" b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 descr="chart10_sensitivity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70" y="960582"/>
            <a:ext cx="11468550" cy="5348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5A5A"/>
                </a:solidFill>
                <a:latin typeface="Calibri"/>
              </a:rPr>
              <a:t>Change in implied D/V vs BBB baseline from one-at-a-time parameter shifts (Supplement Table 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280160"/>
            <a:ext cx="1097280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Pre-default IG benchmark</a:t>
            </a:r>
          </a:p>
          <a:p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No explicit default, bankruptcy, or strategic renegotiation.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1097280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Stationary policy</a:t>
            </a:r>
          </a:p>
          <a:p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Single trigger threshold (Vg) without repeated re-optimization over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389120"/>
            <a:ext cx="1097280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Parsimonious frictions</a:t>
            </a:r>
          </a:p>
          <a:p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Contract frictions summarized by repricing severity (s) and issuance-time concession (k/Vg).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8417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Limitations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6172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Use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97680"/>
                <a:gridCol w="3931920"/>
              </a:tblGrid>
              <a:tr h="10515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CFO / Treasury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Set headroom policy (Vg)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Implied buffer and debt capacity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Credit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Stress repricing terms (s)</a:t>
                      </a:r>
                    </a:p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or </a:t>
                      </a:r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coupon </a:t>
                      </a:r>
                      <a:r>
                        <a:rPr sz="1200" smtClean="0">
                          <a:solidFill>
                            <a:srgbClr val="000000"/>
                          </a:solidFill>
                        </a:rPr>
                        <a:t>co</a:t>
                      </a:r>
                      <a:r>
                        <a:rPr lang="en-US" sz="1200" dirty="0" err="1" smtClean="0">
                          <a:solidFill>
                            <a:srgbClr val="000000"/>
                          </a:solidFill>
                        </a:rPr>
                        <a:t>st</a:t>
                      </a:r>
                      <a:r>
                        <a:rPr lang="en-US" sz="1200" baseline="0" dirty="0" smtClean="0">
                          <a:solidFill>
                            <a:srgbClr val="000000"/>
                          </a:solidFill>
                        </a:rPr>
                        <a:t> of debt</a:t>
                      </a:r>
                      <a:r>
                        <a:rPr sz="12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200">
                          <a:solidFill>
                            <a:srgbClr val="000000"/>
                          </a:solidFill>
                        </a:rPr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Δ implied leverage (D/V)</a:t>
                      </a:r>
                    </a:p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from sensitivity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Loan structuring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Choose covenant multiple (K)</a:t>
                      </a:r>
                    </a:p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and</a:t>
                      </a:r>
                      <a:r>
                        <a:rPr lang="en-US" sz="1200" baseline="0" dirty="0" smtClean="0">
                          <a:solidFill>
                            <a:srgbClr val="000000"/>
                          </a:solidFill>
                        </a:rPr>
                        <a:t> estimate</a:t>
                      </a:r>
                      <a:r>
                        <a:rPr sz="12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200">
                          <a:solidFill>
                            <a:srgbClr val="000000"/>
                          </a:solidFill>
                        </a:rPr>
                        <a:t>profitability proxy (α)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Implied debt capacity</a:t>
                      </a:r>
                    </a:p>
                    <a:p>
                      <a:pPr algn="l">
                        <a:defRPr sz="12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via Dcap = α·K·Vg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005840"/>
            <a:ext cx="73152" cy="5394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B1320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C78"/>
                </a:solidFill>
                <a:latin typeface="Calibri"/>
              </a:rPr>
              <a:t>Happy to share the full paper, appendix, and reproducible code outputs upon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38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B1320"/>
                </a:solidFill>
                <a:latin typeface="Calibri"/>
              </a:rPr>
              <a:t>Author</a:t>
            </a:r>
            <a:r>
              <a:rPr sz="2000" b="1" smtClean="0">
                <a:solidFill>
                  <a:srgbClr val="0B1320"/>
                </a:solidFill>
                <a:latin typeface="Calibri"/>
              </a:rPr>
              <a:t>:</a:t>
            </a:r>
            <a:endParaRPr sz="2000" b="1">
              <a:solidFill>
                <a:srgbClr val="0B132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4640" y="16459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B1320"/>
                </a:solidFill>
                <a:latin typeface="Calibri"/>
              </a:rPr>
              <a:t>Vladimir Manaev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320"/>
                </a:solidFill>
                <a:latin typeface="Calibri"/>
              </a:rPr>
              <a:t>Email: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48840"/>
            <a:ext cx="323646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0" dirty="0" err="1" smtClean="0">
                <a:solidFill>
                  <a:srgbClr val="2563EB"/>
                </a:solidFill>
                <a:latin typeface="Calibri"/>
                <a:hlinkClick r:id="rId2"/>
              </a:rPr>
              <a:t>Vladimir.manaev</a:t>
            </a:r>
            <a:r>
              <a:rPr sz="2000" b="0" smtClean="0">
                <a:solidFill>
                  <a:srgbClr val="2563EB"/>
                </a:solidFill>
                <a:latin typeface="Calibri"/>
                <a:hlinkClick r:id="rId2"/>
              </a:rPr>
              <a:t>@gmail.com</a:t>
            </a:r>
            <a:endParaRPr sz="2000" b="0">
              <a:solidFill>
                <a:srgbClr val="2563EB"/>
              </a:solidFill>
              <a:latin typeface="Calibri"/>
              <a:hlinkClick r:id="rId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320"/>
                </a:solidFill>
                <a:latin typeface="Calibri"/>
              </a:rPr>
              <a:t>LinkedIn: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51760"/>
            <a:ext cx="61497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2563EB"/>
                </a:solidFill>
                <a:hlinkClick r:id="rId3"/>
              </a:rPr>
              <a:t>https://www.linkedin.com/in/vladimir-manaev-0025405/</a:t>
            </a:r>
            <a:endParaRPr sz="2000" b="0">
              <a:solidFill>
                <a:srgbClr val="2563EB"/>
              </a:solidFill>
              <a:latin typeface="Calibri"/>
              <a:hlinkClick r:id="rId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10070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smtClean="0">
                <a:solidFill>
                  <a:srgbClr val="0B1320"/>
                </a:solidFill>
                <a:latin typeface="Calibri"/>
              </a:rPr>
              <a:t>GitHub:</a:t>
            </a:r>
            <a:endParaRPr sz="2000" b="1">
              <a:solidFill>
                <a:srgbClr val="0B132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40" y="3154680"/>
            <a:ext cx="36253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2563EB"/>
                </a:solidFill>
                <a:hlinkClick r:id="rId4"/>
              </a:rPr>
              <a:t>https://github.com/VladimirNM/</a:t>
            </a:r>
            <a:endParaRPr sz="2000" b="0">
              <a:solidFill>
                <a:srgbClr val="2563EB"/>
              </a:solidFill>
              <a:latin typeface="Calibri"/>
              <a:hlinkClick r:id="rId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320"/>
                </a:solidFill>
                <a:latin typeface="Calibri"/>
              </a:rPr>
              <a:t>Paper / preprint: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65760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B1320"/>
                </a:solidFill>
                <a:latin typeface="Calibri"/>
              </a:rPr>
              <a:t>available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851</Words>
  <Application>Microsoft Office PowerPoint</Application>
  <PresentationFormat>Произвольный</PresentationFormat>
  <Paragraphs>170</Paragraphs>
  <Slides>12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Vladimir Manaev</dc:creator>
  <cp:lastModifiedBy>Пользователь Windows</cp:lastModifiedBy>
  <cp:revision>10</cp:revision>
  <dcterms:created xsi:type="dcterms:W3CDTF">2026-01-06T12:01:58Z</dcterms:created>
  <dcterms:modified xsi:type="dcterms:W3CDTF">2026-01-13T10:40:58Z</dcterms:modified>
</cp:coreProperties>
</file>